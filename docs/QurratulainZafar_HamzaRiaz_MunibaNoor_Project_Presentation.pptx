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5" r:id="rId5"/>
    <p:sldId id="266" r:id="rId6"/>
    <p:sldId id="267" r:id="rId7"/>
    <p:sldId id="259" r:id="rId8"/>
    <p:sldId id="260" r:id="rId9"/>
    <p:sldId id="261" r:id="rId10"/>
    <p:sldId id="262" r:id="rId11"/>
    <p:sldId id="263" r:id="rId12"/>
    <p:sldId id="269" r:id="rId13"/>
  </p:sldIdLst>
  <p:sldSz cx="14630400" cy="8229600"/>
  <p:notesSz cx="8229600" cy="14630400"/>
  <p:embeddedFontLst>
    <p:embeddedFont>
      <p:font typeface="Consolas" panose="020B0609020204030204" pitchFamily="49" charset="0"/>
      <p:regular r:id="rId15"/>
      <p:bold r:id="rId16"/>
      <p:italic r:id="rId17"/>
      <p:boldItalic r:id="rId18"/>
    </p:embeddedFont>
    <p:embeddedFont>
      <p:font typeface="Fraunces Extra Bold"/>
      <p:regular r:id="rId19"/>
      <p:italic r:id="rId20"/>
    </p:embeddedFont>
    <p:embeddedFont>
      <p:font typeface="Nobile" panose="02000503050000020004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26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3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462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B2C14-C2D1-D444-0913-8DA0CE24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287D9-A705-C533-C50B-BAF63B4D4E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29C130-5197-EF09-D76C-D26FCF3F4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EF50FE-D36C-FFC2-30B7-43642C8F68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21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23046" y="173057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Mini C Compiler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6280190" y="27795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339756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Translating Mini C source code into executable machine-level insight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</a:rPr>
              <a:t>Compiler Construction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</a:rPr>
              <a:t>Project Presentation</a:t>
            </a: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280190" y="4015621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463367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5251728"/>
            <a:ext cx="755642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Qurratulain Zafar (412655)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Hamza Riaz (414577)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Muniba Noor (407670)</a:t>
            </a:r>
            <a:endParaRPr lang="en-US" sz="17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057BFF9-799E-B48D-C23E-F8BF54B7A2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8818" y="7735820"/>
            <a:ext cx="2381582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7661"/>
            <a:ext cx="593621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Introduction &amp; Objectives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449949"/>
            <a:ext cx="5156954" cy="4203025"/>
          </a:xfrm>
          <a:prstGeom prst="roundRect">
            <a:avLst>
              <a:gd name="adj" fmla="val 3481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63310" y="2449949"/>
            <a:ext cx="121920" cy="4203025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142524" y="27072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Scope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2524" y="3288387"/>
            <a:ext cx="455092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focuses on the frontend phases of a Mini C compiler: lexical analysis, syntax analysis, semantic analysis, and intermediate code generation.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2524" y="5306973"/>
            <a:ext cx="455092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We support a C subset and produce token streams, parse trees, symbol information, and three-address code (TAC).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511766" y="2449949"/>
            <a:ext cx="7332345" cy="4236839"/>
          </a:xfrm>
          <a:prstGeom prst="roundRect">
            <a:avLst>
              <a:gd name="adj" fmla="val 3453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6481286" y="2449949"/>
            <a:ext cx="121920" cy="4236839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860500" y="27072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Primary Objectives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860500" y="3288387"/>
            <a:ext cx="6726317" cy="3141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lexical analysis to tokenize identifiers, keywords, literals, operators, and delimiters.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Build a recursive descent parser for Mini C syntax and expression precedence.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 semantic analysis with type checking, scope resolution, and symbol table management.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Emit intermediate representation in TAC and validate generated output against expected results.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D59BEC3-DD48-B6C6-893B-0251E5E7C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4262" y="7762810"/>
            <a:ext cx="2381582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50250"/>
            <a:ext cx="622149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Defined Subset of C which is supported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4988004"/>
            <a:ext cx="13042821" cy="30480"/>
          </a:xfrm>
          <a:prstGeom prst="roundRect">
            <a:avLst>
              <a:gd name="adj" fmla="val 669768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93790" y="2070854"/>
            <a:ext cx="4158615" cy="2191345"/>
          </a:xfrm>
          <a:prstGeom prst="roundRect">
            <a:avLst>
              <a:gd name="adj" fmla="val 9316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455420" y="2297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Types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20604" y="2788087"/>
            <a:ext cx="3704987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int, float, char, bool, void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String literals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Fixed-size arrays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35893" y="5018484"/>
            <a:ext cx="4158615" cy="2191345"/>
          </a:xfrm>
          <a:prstGeom prst="rect">
            <a:avLst/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897523" y="524529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Control Flow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62707" y="5735717"/>
            <a:ext cx="3704987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if / else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while, for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Functions and scopes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677995" y="2070854"/>
            <a:ext cx="4158615" cy="2917150"/>
          </a:xfrm>
          <a:prstGeom prst="roundRect">
            <a:avLst>
              <a:gd name="adj" fmla="val 6998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339626" y="2297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Expressions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04809" y="2788087"/>
            <a:ext cx="3704987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Arithmetic and relational ops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Logical, unary, assignment, postfix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Array indexing and constant folding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5AC60C3-F4D1-6435-EA6F-CB2572C3A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818" y="7726715"/>
            <a:ext cx="2381582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25673"/>
            <a:ext cx="4973955" cy="52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sz="3250" b="1" dirty="0">
                <a:solidFill>
                  <a:srgbClr val="3B4540"/>
                </a:solidFill>
                <a:latin typeface="Fraunces Extra Bold"/>
              </a:rPr>
              <a:t>Features Added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31758" y="1534001"/>
            <a:ext cx="1316688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dirty="0">
                <a:solidFill>
                  <a:srgbClr val="405449"/>
                </a:solidFill>
                <a:latin typeface="Nobile"/>
              </a:rPr>
              <a:t>Beyond the required Mini C frontend, the compiler includes optional features</a:t>
            </a:r>
            <a:r>
              <a:rPr lang="en-US" dirty="0">
                <a:solidFill>
                  <a:srgbClr val="405449"/>
                </a:solidFill>
                <a:latin typeface="Nobile"/>
              </a:rPr>
              <a:t> like: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758" y="2819573"/>
            <a:ext cx="418148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00"/>
              </a:lnSpc>
              <a:buNone/>
            </a:pPr>
            <a:r>
              <a:rPr sz="1600">
                <a:solidFill>
                  <a:srgbClr val="405449"/>
                </a:solidFill>
                <a:latin typeface="Fraunces Light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758" y="3152115"/>
            <a:ext cx="4260413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758" y="3302372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sz="2400" b="1" dirty="0">
                <a:solidFill>
                  <a:srgbClr val="405449"/>
                </a:solidFill>
                <a:latin typeface="Fraunces Extra Bold"/>
              </a:rPr>
              <a:t>Array Support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758" y="3744570"/>
            <a:ext cx="426041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dirty="0">
                <a:solidFill>
                  <a:srgbClr val="405449"/>
                </a:solidFill>
                <a:latin typeface="Nobile"/>
              </a:rPr>
              <a:t>Declares fixed-size integer arrays such as int values[4].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758" y="4502879"/>
            <a:ext cx="426041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dirty="0">
                <a:solidFill>
                  <a:srgbClr val="405449"/>
                </a:solidFill>
                <a:latin typeface="Nobile"/>
              </a:rPr>
              <a:t>Supports indexed reads/writes in TAC, for example values[</a:t>
            </a:r>
            <a:r>
              <a:rPr dirty="0" err="1">
                <a:solidFill>
                  <a:srgbClr val="405449"/>
                </a:solidFill>
                <a:latin typeface="Nobile"/>
              </a:rPr>
              <a:t>i</a:t>
            </a:r>
            <a:r>
              <a:rPr dirty="0">
                <a:solidFill>
                  <a:srgbClr val="405449"/>
                </a:solidFill>
                <a:latin typeface="Nobile"/>
              </a:rPr>
              <a:t>] and </a:t>
            </a:r>
            <a:endParaRPr lang="en-US" dirty="0">
              <a:solidFill>
                <a:srgbClr val="405449"/>
              </a:solidFill>
              <a:latin typeface="Nobile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dirty="0">
                <a:solidFill>
                  <a:srgbClr val="405449"/>
                </a:solidFill>
                <a:latin typeface="Nobile"/>
              </a:rPr>
              <a:t>values[0] = 3.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84934" y="2819573"/>
            <a:ext cx="418148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00"/>
              </a:lnSpc>
              <a:buNone/>
            </a:pPr>
            <a:r>
              <a:rPr sz="1600">
                <a:solidFill>
                  <a:srgbClr val="405449"/>
                </a:solidFill>
                <a:latin typeface="Fraunces Light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84934" y="3152115"/>
            <a:ext cx="4260413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184934" y="3302372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sz="2400" b="1" dirty="0">
                <a:solidFill>
                  <a:srgbClr val="405449"/>
                </a:solidFill>
                <a:latin typeface="Fraunces Extra Bold"/>
              </a:rPr>
              <a:t>Constant Folding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84934" y="3744570"/>
            <a:ext cx="426041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dirty="0">
                <a:solidFill>
                  <a:srgbClr val="405449"/>
                </a:solidFill>
                <a:latin typeface="Nobile"/>
              </a:rPr>
              <a:t>Evaluates literal-only expressions during compilation.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84934" y="4502879"/>
            <a:ext cx="426041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dirty="0">
                <a:solidFill>
                  <a:srgbClr val="405449"/>
                </a:solidFill>
                <a:latin typeface="Nobile"/>
              </a:rPr>
              <a:t>Example: 2 + 3 * 4 becomes 14, reducing temporary TAC operations.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38109" y="2819573"/>
            <a:ext cx="418148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00"/>
              </a:lnSpc>
              <a:buNone/>
            </a:pPr>
            <a:r>
              <a:rPr sz="1600">
                <a:solidFill>
                  <a:srgbClr val="405449"/>
                </a:solidFill>
                <a:latin typeface="Fraunces Light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38109" y="3152115"/>
            <a:ext cx="4260413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638109" y="3302372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sz="2400" b="1" dirty="0">
                <a:solidFill>
                  <a:srgbClr val="405449"/>
                </a:solidFill>
                <a:latin typeface="Fraunces Extra Bold"/>
              </a:rPr>
              <a:t>Dead Code Elimination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38109" y="3744570"/>
            <a:ext cx="426041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dirty="0">
                <a:solidFill>
                  <a:srgbClr val="405449"/>
                </a:solidFill>
                <a:latin typeface="Nobile"/>
              </a:rPr>
              <a:t>Removes unreachable TAC after unconditional return or </a:t>
            </a:r>
            <a:r>
              <a:rPr dirty="0" err="1">
                <a:solidFill>
                  <a:srgbClr val="405449"/>
                </a:solidFill>
                <a:latin typeface="Nobile"/>
              </a:rPr>
              <a:t>goto</a:t>
            </a:r>
            <a:r>
              <a:rPr dirty="0">
                <a:solidFill>
                  <a:srgbClr val="405449"/>
                </a:solidFill>
                <a:latin typeface="Nobile"/>
              </a:rPr>
              <a:t> instructions.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914209" y="3802790"/>
            <a:ext cx="4260413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758" y="5594325"/>
            <a:ext cx="13166884" cy="15597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31758" y="5951274"/>
            <a:ext cx="3377446" cy="391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endParaRPr lang="en-US" sz="2450" dirty="0"/>
          </a:p>
        </p:txBody>
      </p:sp>
      <p:sp>
        <p:nvSpPr>
          <p:cNvPr id="21" name="Text 19"/>
          <p:cNvSpPr/>
          <p:nvPr/>
        </p:nvSpPr>
        <p:spPr>
          <a:xfrm>
            <a:off x="731758" y="6206252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758" y="6744414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b="1" i="1" dirty="0">
                <a:solidFill>
                  <a:srgbClr val="405449"/>
                </a:solidFill>
                <a:latin typeface="Nobile"/>
              </a:rPr>
              <a:t>Constant folding is parser-time; dead-code elimination is a later TAC cleanup pass.</a:t>
            </a:r>
            <a:endParaRPr lang="en-US" i="1" dirty="0"/>
          </a:p>
        </p:txBody>
      </p:sp>
      <p:sp>
        <p:nvSpPr>
          <p:cNvPr id="23" name="Text 21"/>
          <p:cNvSpPr/>
          <p:nvPr/>
        </p:nvSpPr>
        <p:spPr>
          <a:xfrm>
            <a:off x="731758" y="7282577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6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7D46A4A-17F9-866A-DD7B-DF4B40C0E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4973" y="7708637"/>
            <a:ext cx="2381582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21030"/>
            <a:ext cx="5749647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sz="3300" b="1" dirty="0">
                <a:solidFill>
                  <a:srgbClr val="3B4540"/>
                </a:solidFill>
                <a:latin typeface="Fraunces Extra Bold"/>
              </a:rPr>
              <a:t>Implementation Details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44260" y="1551265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sz="1650">
                <a:solidFill>
                  <a:srgbClr val="405449"/>
                </a:solidFill>
                <a:latin typeface="Fraunces Light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4260" y="1889760"/>
            <a:ext cx="6471285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44260" y="204180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sz="2400" b="1" dirty="0">
                <a:solidFill>
                  <a:srgbClr val="405449"/>
                </a:solidFill>
                <a:latin typeface="Fraunces Extra Bold"/>
              </a:rPr>
              <a:t>Lexer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4260" y="2493645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dirty="0">
                <a:solidFill>
                  <a:srgbClr val="405449"/>
                </a:solidFill>
                <a:latin typeface="Nobile"/>
              </a:rPr>
              <a:t>Scans source into tokens with lexeme, token type, line, and column.</a:t>
            </a:r>
            <a:endParaRPr lang="en-US" dirty="0"/>
          </a:p>
          <a:p>
            <a:pPr algn="l"/>
            <a:r>
              <a:rPr dirty="0">
                <a:solidFill>
                  <a:srgbClr val="405449"/>
                </a:solidFill>
                <a:latin typeface="Nobile"/>
              </a:rPr>
              <a:t>Handles comments, # lines, literals, operators, and delimiters.</a:t>
            </a:r>
          </a:p>
        </p:txBody>
      </p:sp>
      <p:sp>
        <p:nvSpPr>
          <p:cNvPr id="7" name="Text 5"/>
          <p:cNvSpPr/>
          <p:nvPr/>
        </p:nvSpPr>
        <p:spPr>
          <a:xfrm>
            <a:off x="7414855" y="1551265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sz="1650">
                <a:solidFill>
                  <a:srgbClr val="405449"/>
                </a:solidFill>
                <a:latin typeface="Fraunces Light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14855" y="1889760"/>
            <a:ext cx="6471285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414855" y="204180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sz="2400" b="1" dirty="0">
                <a:solidFill>
                  <a:srgbClr val="405449"/>
                </a:solidFill>
                <a:latin typeface="Fraunces Extra Bold"/>
              </a:rPr>
              <a:t>Parser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14855" y="2493645"/>
            <a:ext cx="6471285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dirty="0">
                <a:solidFill>
                  <a:srgbClr val="405449"/>
                </a:solidFill>
                <a:latin typeface="Nobile"/>
              </a:rPr>
              <a:t>Recursive-descent functions map to grammar rules and precedence levels.</a:t>
            </a:r>
            <a:endParaRPr lang="en-US" dirty="0"/>
          </a:p>
          <a:p>
            <a:pPr algn="l"/>
            <a:r>
              <a:rPr dirty="0">
                <a:solidFill>
                  <a:srgbClr val="405449"/>
                </a:solidFill>
                <a:latin typeface="Nobile"/>
              </a:rPr>
              <a:t>Parses functions, blocks, expressions, arrays, calls, and assignments.</a:t>
            </a:r>
          </a:p>
        </p:txBody>
      </p:sp>
      <p:sp>
        <p:nvSpPr>
          <p:cNvPr id="11" name="Text 9"/>
          <p:cNvSpPr/>
          <p:nvPr/>
        </p:nvSpPr>
        <p:spPr>
          <a:xfrm>
            <a:off x="7414855" y="3601879"/>
            <a:ext cx="6471285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44260" y="4290179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sz="1650">
                <a:solidFill>
                  <a:srgbClr val="405449"/>
                </a:solidFill>
                <a:latin typeface="Fraunces Light"/>
              </a:rPr>
              <a:t>03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4260" y="4628674"/>
            <a:ext cx="6471285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44260" y="478071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sz="2400" b="1" dirty="0">
                <a:solidFill>
                  <a:srgbClr val="405449"/>
                </a:solidFill>
                <a:latin typeface="Fraunces Extra Bold"/>
              </a:rPr>
              <a:t>Semantic Checks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4260" y="5232559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dirty="0">
                <a:solidFill>
                  <a:srgbClr val="405449"/>
                </a:solidFill>
                <a:latin typeface="Nobile"/>
              </a:rPr>
              <a:t>Scoped symbol table tracks </a:t>
            </a:r>
            <a:r>
              <a:rPr dirty="0" err="1">
                <a:solidFill>
                  <a:srgbClr val="405449"/>
                </a:solidFill>
                <a:latin typeface="Nobile"/>
              </a:rPr>
              <a:t>globals</a:t>
            </a:r>
            <a:r>
              <a:rPr dirty="0">
                <a:solidFill>
                  <a:srgbClr val="405449"/>
                </a:solidFill>
                <a:latin typeface="Nobile"/>
              </a:rPr>
              <a:t>, functions, parameters, and nested blocks.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4260" y="6011228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dirty="0">
                <a:solidFill>
                  <a:srgbClr val="405449"/>
                </a:solidFill>
                <a:latin typeface="Nobile"/>
              </a:rPr>
              <a:t>Rejects duplicate names, undeclared identifiers, bad calls, and invalid type usage.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14855" y="4290179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sz="1650">
                <a:solidFill>
                  <a:srgbClr val="405449"/>
                </a:solidFill>
                <a:latin typeface="Fraunces Light"/>
              </a:rPr>
              <a:t>04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414855" y="4628674"/>
            <a:ext cx="6471285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414855" y="4780717"/>
            <a:ext cx="3377327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sz="2400" b="1" dirty="0">
                <a:solidFill>
                  <a:srgbClr val="405449"/>
                </a:solidFill>
                <a:latin typeface="Fraunces Extra Bold"/>
              </a:rPr>
              <a:t>TAC + Optimization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14855" y="5232559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dirty="0">
                <a:solidFill>
                  <a:srgbClr val="405449"/>
                </a:solidFill>
                <a:latin typeface="Nobile"/>
              </a:rPr>
              <a:t>Emits temporaries, labels, branches, params, calls, returns, and array access.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14855" y="6011228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dirty="0">
                <a:solidFill>
                  <a:srgbClr val="405449"/>
                </a:solidFill>
                <a:latin typeface="Nobile"/>
              </a:rPr>
              <a:t>Folds constants during parsing, then removes unreachable TAC blocks.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14855" y="6789896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6052641-456C-5E31-BE8C-2EBC1EC24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198" y="7750778"/>
            <a:ext cx="2381582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21030"/>
            <a:ext cx="5749647" cy="531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sz="3400" b="1" i="0">
                <a:solidFill>
                  <a:srgbClr val="3B4540"/>
                </a:solidFill>
                <a:latin typeface="Fraunces Extra Bold"/>
              </a:rPr>
              <a:t>Testing Example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44260" y="1551265"/>
            <a:ext cx="425291" cy="265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sz="1650" b="0" i="0">
                <a:solidFill>
                  <a:srgbClr val="405449"/>
                </a:solidFill>
                <a:latin typeface="Fraunces Light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4260" y="1889760"/>
            <a:ext cx="6471285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44260" y="2041803"/>
            <a:ext cx="2658070" cy="332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sz="2400" b="1" i="0" dirty="0">
                <a:solidFill>
                  <a:srgbClr val="405449"/>
                </a:solidFill>
                <a:latin typeface="Fraunces Extra Bold"/>
              </a:rPr>
              <a:t>How We Tested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44260" y="2493645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b="0" i="0" dirty="0">
                <a:solidFill>
                  <a:srgbClr val="405449"/>
                </a:solidFill>
                <a:latin typeface="Nobile"/>
              </a:rPr>
              <a:t>make test runs the full suite.</a:t>
            </a:r>
            <a:endParaRPr lang="en-US" dirty="0"/>
          </a:p>
          <a:p>
            <a:pPr algn="l"/>
            <a:r>
              <a:rPr b="0" i="0" dirty="0">
                <a:solidFill>
                  <a:srgbClr val="405449"/>
                </a:solidFill>
                <a:latin typeface="Nobile"/>
              </a:rPr>
              <a:t>Valid programs must be accepted; invalid programs must be rejected.</a:t>
            </a:r>
          </a:p>
        </p:txBody>
      </p:sp>
      <p:sp>
        <p:nvSpPr>
          <p:cNvPr id="7" name="Text 5"/>
          <p:cNvSpPr/>
          <p:nvPr/>
        </p:nvSpPr>
        <p:spPr>
          <a:xfrm>
            <a:off x="7414855" y="1551265"/>
            <a:ext cx="425291" cy="265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sz="1650" b="0" i="0">
                <a:solidFill>
                  <a:srgbClr val="405449"/>
                </a:solidFill>
                <a:latin typeface="Fraunces Light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14855" y="1889760"/>
            <a:ext cx="6471285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414855" y="2041803"/>
            <a:ext cx="2658070" cy="332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sz="2400" b="1" i="0" dirty="0">
                <a:solidFill>
                  <a:srgbClr val="405449"/>
                </a:solidFill>
                <a:latin typeface="Fraunces Extra Bold"/>
              </a:rPr>
              <a:t>Main Test Input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414855" y="2493645"/>
            <a:ext cx="6471285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/>
            <a:r>
              <a:rPr b="0" i="0" dirty="0">
                <a:solidFill>
                  <a:srgbClr val="405449"/>
                </a:solidFill>
                <a:latin typeface="Nobile"/>
              </a:rPr>
              <a:t>The program returns x, then contains statements that are syntactically valid but unreachable.</a:t>
            </a:r>
          </a:p>
        </p:txBody>
      </p:sp>
      <p:sp>
        <p:nvSpPr>
          <p:cNvPr id="11" name="Text 9"/>
          <p:cNvSpPr/>
          <p:nvPr/>
        </p:nvSpPr>
        <p:spPr>
          <a:xfrm>
            <a:off x="7596265" y="3080445"/>
            <a:ext cx="6471285" cy="329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dirty="0">
                <a:solidFill>
                  <a:srgbClr val="405449"/>
                </a:solidFill>
                <a:latin typeface="Nobile"/>
              </a:rPr>
              <a:t>Key idea:</a:t>
            </a:r>
          </a:p>
          <a:p>
            <a:pPr>
              <a:lnSpc>
                <a:spcPts val="2550"/>
              </a:lnSpc>
            </a:pPr>
            <a:r>
              <a:rPr lang="en-US" dirty="0">
                <a:solidFill>
                  <a:srgbClr val="405449"/>
                </a:solidFill>
                <a:latin typeface="Nobile"/>
              </a:rPr>
              <a:t>return x;</a:t>
            </a:r>
          </a:p>
          <a:p>
            <a:pPr>
              <a:lnSpc>
                <a:spcPts val="2550"/>
              </a:lnSpc>
            </a:pPr>
            <a:r>
              <a:rPr lang="en-US" dirty="0">
                <a:solidFill>
                  <a:srgbClr val="405449"/>
                </a:solidFill>
                <a:latin typeface="Nobile"/>
              </a:rPr>
              <a:t>x = x + 99;</a:t>
            </a:r>
          </a:p>
          <a:p>
            <a:pPr>
              <a:lnSpc>
                <a:spcPts val="2550"/>
              </a:lnSpc>
            </a:pPr>
            <a:r>
              <a:rPr lang="en-US" dirty="0">
                <a:solidFill>
                  <a:srgbClr val="405449"/>
                </a:solidFill>
                <a:latin typeface="Nobile"/>
              </a:rPr>
              <a:t>int </a:t>
            </a:r>
            <a:r>
              <a:rPr lang="en-US" dirty="0" err="1">
                <a:solidFill>
                  <a:srgbClr val="405449"/>
                </a:solidFill>
                <a:latin typeface="Nobile"/>
              </a:rPr>
              <a:t>never_used</a:t>
            </a:r>
            <a:r>
              <a:rPr lang="en-US" dirty="0">
                <a:solidFill>
                  <a:srgbClr val="405449"/>
                </a:solidFill>
                <a:latin typeface="Nobile"/>
              </a:rPr>
              <a:t> = x * 2;</a:t>
            </a:r>
            <a:endParaRPr lang="en-US" b="0" i="0" dirty="0">
              <a:solidFill>
                <a:srgbClr val="405449"/>
              </a:solidFill>
              <a:latin typeface="Nobile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4260" y="4449723"/>
            <a:ext cx="425291" cy="265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sz="1650" b="0" i="0">
                <a:solidFill>
                  <a:srgbClr val="405449"/>
                </a:solidFill>
                <a:latin typeface="Fraunces Light"/>
              </a:rPr>
              <a:t>03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4260" y="4788218"/>
            <a:ext cx="6471285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44260" y="4940261"/>
            <a:ext cx="2658070" cy="332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sz="2400" b="1" i="0" dirty="0">
                <a:solidFill>
                  <a:srgbClr val="405449"/>
                </a:solidFill>
                <a:latin typeface="Fraunces Extra Bold"/>
              </a:rPr>
              <a:t>Curated Test Output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44257" y="5685474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b="0" i="0" dirty="0">
                <a:solidFill>
                  <a:srgbClr val="405449"/>
                </a:solidFill>
                <a:latin typeface="Nobile"/>
              </a:rPr>
              <a:t>Result: accepted</a:t>
            </a:r>
            <a:endParaRPr lang="en-US" dirty="0"/>
          </a:p>
          <a:p>
            <a:pPr algn="l"/>
            <a:r>
              <a:rPr b="0" i="0" dirty="0">
                <a:solidFill>
                  <a:srgbClr val="405449"/>
                </a:solidFill>
                <a:latin typeface="Nobile"/>
              </a:rPr>
              <a:t>The reachable return remains, and unreachable TAC is removed</a:t>
            </a:r>
            <a:r>
              <a:rPr sz="1540" b="0" i="0" dirty="0">
                <a:solidFill>
                  <a:srgbClr val="405449"/>
                </a:solidFill>
                <a:latin typeface="Nobile"/>
              </a:rPr>
              <a:t>.</a:t>
            </a:r>
          </a:p>
        </p:txBody>
      </p:sp>
      <p:sp>
        <p:nvSpPr>
          <p:cNvPr id="16" name="Text 14"/>
          <p:cNvSpPr/>
          <p:nvPr/>
        </p:nvSpPr>
        <p:spPr>
          <a:xfrm>
            <a:off x="744258" y="6562488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b="0" i="0" dirty="0">
                <a:solidFill>
                  <a:srgbClr val="405449"/>
                </a:solidFill>
                <a:latin typeface="Consolas"/>
              </a:rPr>
              <a:t>TAC excerpt:</a:t>
            </a:r>
            <a:endParaRPr lang="en-US" dirty="0"/>
          </a:p>
          <a:p>
            <a:pPr algn="l"/>
            <a:r>
              <a:rPr b="0" i="0" dirty="0">
                <a:solidFill>
                  <a:srgbClr val="405449"/>
                </a:solidFill>
                <a:latin typeface="Consolas"/>
              </a:rPr>
              <a:t>return x</a:t>
            </a:r>
          </a:p>
          <a:p>
            <a:pPr algn="l"/>
            <a:r>
              <a:rPr b="0" i="0" dirty="0">
                <a:solidFill>
                  <a:srgbClr val="405449"/>
                </a:solidFill>
                <a:latin typeface="Consolas"/>
              </a:rPr>
              <a:t># dead code eliminated 6 unreachable instruction(s)</a:t>
            </a:r>
          </a:p>
          <a:p>
            <a:pPr algn="l"/>
            <a:r>
              <a:rPr b="0" i="0" dirty="0" err="1">
                <a:solidFill>
                  <a:srgbClr val="405449"/>
                </a:solidFill>
                <a:latin typeface="Consolas"/>
              </a:rPr>
              <a:t>endfunc</a:t>
            </a:r>
            <a:r>
              <a:rPr b="0" i="0" dirty="0">
                <a:solidFill>
                  <a:srgbClr val="405449"/>
                </a:solidFill>
                <a:latin typeface="Consolas"/>
              </a:rPr>
              <a:t> main</a:t>
            </a:r>
          </a:p>
        </p:txBody>
      </p:sp>
      <p:sp>
        <p:nvSpPr>
          <p:cNvPr id="17" name="Text 15"/>
          <p:cNvSpPr/>
          <p:nvPr/>
        </p:nvSpPr>
        <p:spPr>
          <a:xfrm>
            <a:off x="7414855" y="4449723"/>
            <a:ext cx="425291" cy="265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sz="1650" b="0" i="0">
                <a:solidFill>
                  <a:srgbClr val="405449"/>
                </a:solidFill>
                <a:latin typeface="Fraunces Light"/>
              </a:rPr>
              <a:t>04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414855" y="4788218"/>
            <a:ext cx="6471285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414855" y="4940261"/>
            <a:ext cx="3888145" cy="332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sz="2400" b="1" i="0" dirty="0">
                <a:solidFill>
                  <a:srgbClr val="405449"/>
                </a:solidFill>
                <a:latin typeface="Fraunces Extra Bold"/>
              </a:rPr>
              <a:t>Relation to Compiler Design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414855" y="5392103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b="0" i="0" dirty="0">
                <a:solidFill>
                  <a:srgbClr val="405449"/>
                </a:solidFill>
                <a:latin typeface="Nobile"/>
              </a:rPr>
              <a:t>The test exercises the pipeline end to end: </a:t>
            </a:r>
            <a:r>
              <a:rPr b="0" i="0" dirty="0" err="1">
                <a:solidFill>
                  <a:srgbClr val="405449"/>
                </a:solidFill>
                <a:latin typeface="Nobile"/>
              </a:rPr>
              <a:t>lexer</a:t>
            </a:r>
            <a:r>
              <a:rPr b="0" i="0" dirty="0">
                <a:solidFill>
                  <a:srgbClr val="405449"/>
                </a:solidFill>
                <a:latin typeface="Nobile"/>
              </a:rPr>
              <a:t> tokens, parser statements, semantic symbols/types, TAC generation, and optimization.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14854" y="6508314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b="0" i="0" dirty="0">
                <a:solidFill>
                  <a:srgbClr val="405449"/>
                </a:solidFill>
                <a:latin typeface="Nobile"/>
              </a:rPr>
              <a:t>It shows the optimizer is modular: the program is accepted first, then dead-code elimination cleans the TAC layer.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14855" y="6949440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6052641-456C-5E31-BE8C-2EBC1EC24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0198" y="7750778"/>
            <a:ext cx="2381582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25673"/>
            <a:ext cx="4973955" cy="52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Grammar Specification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31758" y="1534001"/>
            <a:ext cx="1316688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Recursive-descent parser built from a clean EBNF grammar, with each production mapped to a dedicated parsing function and ordered by precedence.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758" y="2393513"/>
            <a:ext cx="418148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758" y="2726055"/>
            <a:ext cx="4260413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31758" y="2876312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Program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758" y="3318510"/>
            <a:ext cx="426041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Starts at the top-level program rule and consumes declarations until EOF.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1758" y="4076819"/>
            <a:ext cx="426041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Defines the file structure and rejects stray tokens after parsing.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84934" y="2393513"/>
            <a:ext cx="418148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184934" y="2726055"/>
            <a:ext cx="4260413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5184934" y="2876312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Declarations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184934" y="3318510"/>
            <a:ext cx="426041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Top-level functions and variables begin with a type and name.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84934" y="4076819"/>
            <a:ext cx="426041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Functions add parameters and a block scope; variables may include an initializer.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638109" y="2393513"/>
            <a:ext cx="418148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38109" y="2726055"/>
            <a:ext cx="4260413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638109" y="2876312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Statements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38109" y="3318510"/>
            <a:ext cx="4260413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Includes blocks, control flow, returns, local declarations, and expression statements.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38108" y="4356200"/>
            <a:ext cx="4260413" cy="665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and </a:t>
            </a:r>
            <a:r>
              <a:rPr lang="en-US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control execution inside nested statement bodies.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31758" y="5168265"/>
            <a:ext cx="13166884" cy="15597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31758" y="5525214"/>
            <a:ext cx="3377446" cy="391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Operator Precedence</a:t>
            </a:r>
            <a:endParaRPr lang="en-US" sz="2450" dirty="0"/>
          </a:p>
        </p:txBody>
      </p:sp>
      <p:sp>
        <p:nvSpPr>
          <p:cNvPr id="21" name="Text 19"/>
          <p:cNvSpPr/>
          <p:nvPr/>
        </p:nvSpPr>
        <p:spPr>
          <a:xfrm>
            <a:off x="731758" y="6206252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Expression parsing is layered so each function handles one precedence level only.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31758" y="6744414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Assignment → Logical → Equality → Relational → Additive → Multiplicative → Unary → Postfix → Primary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31758" y="7282577"/>
            <a:ext cx="13166884" cy="321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ensures tighter-binding operators group first, producing the correct parse tree.</a:t>
            </a:r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7D46A4A-17F9-866A-DD7B-DF4B40C0E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4973" y="7708637"/>
            <a:ext cx="2381582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21030"/>
            <a:ext cx="5749647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Design of Compiler Phases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44260" y="1551265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4260" y="1889760"/>
            <a:ext cx="6471285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744260" y="204180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File Reading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4260" y="2493645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Stream source into an input buffer, manage EOF detection, and support lookahead/rewind for scanner traversal.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14855" y="1551265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7414855" y="1889760"/>
            <a:ext cx="6471285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7414855" y="2041803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Lexical Analysis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414855" y="2493645"/>
            <a:ext cx="6471285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Run a finite-state machine over the buffer to recognize lexemes and emit tokens with type, value, line, column, and length attributes.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14855" y="3601879"/>
            <a:ext cx="6471285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44260" y="4290179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4260" y="4628674"/>
            <a:ext cx="6471285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44260" y="4780717"/>
            <a:ext cx="2658070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Syntax Analysis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4260" y="5232559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recursive descent parsing to validate grammar rules and precedence levels.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4260" y="6011228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Construct the AST from matched productions, recovering from syntax errors when possible.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14855" y="4290179"/>
            <a:ext cx="425291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7414855" y="4628674"/>
            <a:ext cx="6471285" cy="22860"/>
          </a:xfrm>
          <a:prstGeom prst="rect">
            <a:avLst/>
          </a:prstGeom>
          <a:solidFill>
            <a:srgbClr val="43895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7414855" y="4780717"/>
            <a:ext cx="3377327" cy="332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Semantic Analysis &amp; TAC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414855" y="5232559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 scoped symbol tables for declarations, bindings, and lookup/insert operations.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14855" y="6011228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 type checking and limited type inference, then fold constants and verify operand compatibility.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14855" y="6789896"/>
            <a:ext cx="6471285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Generate three-address code with temporaries, labels, branches, and call/return instructions.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6052641-456C-5E31-BE8C-2EBC1EC24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0198" y="7750778"/>
            <a:ext cx="2381582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025" y="763310"/>
            <a:ext cx="8229362" cy="54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Project Architecture &amp; File Structure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769025" y="5368885"/>
            <a:ext cx="13092351" cy="30480"/>
          </a:xfrm>
          <a:prstGeom prst="roundRect">
            <a:avLst>
              <a:gd name="adj" fmla="val 648837"/>
            </a:avLst>
          </a:prstGeom>
          <a:solidFill>
            <a:srgbClr val="CED9C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769025" y="1738193"/>
            <a:ext cx="4186714" cy="3661172"/>
          </a:xfrm>
          <a:prstGeom prst="roundRect">
            <a:avLst>
              <a:gd name="adj" fmla="val 9429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488996" y="1957864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Organization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88695" y="2428756"/>
            <a:ext cx="3747373" cy="1187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include/ — public headers</a:t>
            </a:r>
            <a:endParaRPr lang="en-US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src/ — core implementations</a:t>
            </a:r>
            <a:endParaRPr lang="en-US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tests/ — valid and invalid cases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21724" y="5399365"/>
            <a:ext cx="4186833" cy="2097405"/>
          </a:xfrm>
          <a:prstGeom prst="rect">
            <a:avLst/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941814" y="5619036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Build &amp; Tests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41394" y="6089928"/>
            <a:ext cx="3747492" cy="1187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Makefile builds the compiler</a:t>
            </a:r>
            <a:endParaRPr lang="en-US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make test runs the suite</a:t>
            </a:r>
            <a:endParaRPr lang="en-US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README shows usage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674543" y="1738193"/>
            <a:ext cx="4186833" cy="3630692"/>
          </a:xfrm>
          <a:prstGeom prst="roundRect">
            <a:avLst>
              <a:gd name="adj" fmla="val 5447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394633" y="1957864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Modules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894213" y="2428756"/>
            <a:ext cx="3747492" cy="27204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lexer — tokens in</a:t>
            </a:r>
            <a:endParaRPr lang="en-US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parser — grammar, checks, TAC out</a:t>
            </a:r>
            <a:endParaRPr lang="en-US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symbol table — scopes and metadata</a:t>
            </a:r>
            <a:endParaRPr lang="en-US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tac — store and print TAC</a:t>
            </a:r>
            <a:endParaRPr lang="en-US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diagnostics — errors and reports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F1F7AF-BA30-C6B4-D973-32E38D697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818" y="7762810"/>
            <a:ext cx="2381582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94096"/>
            <a:ext cx="8321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Limitations &amp; Future Enhancements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314700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878860" y="335720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1530906" y="33925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Current Limits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30906" y="3997285"/>
            <a:ext cx="5642491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dirty="0">
                <a:solidFill>
                  <a:srgbClr val="405449"/>
                </a:solidFill>
                <a:latin typeface="Nobile"/>
              </a:rPr>
              <a:t>Frontend only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dirty="0">
                <a:solidFill>
                  <a:srgbClr val="405449"/>
                </a:solidFill>
                <a:latin typeface="Nobile"/>
              </a:rPr>
              <a:t>No pointers or structs</a:t>
            </a:r>
            <a:endParaRPr lang="en-US" dirty="0">
              <a:solidFill>
                <a:srgbClr val="405449"/>
              </a:solidFill>
              <a:latin typeface="Nobile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dirty="0">
                <a:solidFill>
                  <a:srgbClr val="405449"/>
                </a:solidFill>
                <a:latin typeface="Nobile"/>
              </a:rPr>
              <a:t>Optimizations are TAC-level only</a:t>
            </a:r>
          </a:p>
        </p:txBody>
      </p:sp>
      <p:sp>
        <p:nvSpPr>
          <p:cNvPr id="7" name="Shape 5"/>
          <p:cNvSpPr/>
          <p:nvPr/>
        </p:nvSpPr>
        <p:spPr>
          <a:xfrm>
            <a:off x="7456884" y="3314700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7541955" y="3357205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8194000" y="33925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Next Up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194000" y="3882985"/>
            <a:ext cx="5642610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dirty="0">
                <a:solidFill>
                  <a:srgbClr val="405449"/>
                </a:solidFill>
                <a:latin typeface="Nobile"/>
              </a:rPr>
              <a:t>AST + structured IR</a:t>
            </a:r>
            <a:endParaRPr lang="en-US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dirty="0">
                <a:solidFill>
                  <a:srgbClr val="405449"/>
                </a:solidFill>
                <a:latin typeface="Nobile"/>
              </a:rPr>
              <a:t>LLVM IR or assembly output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dirty="0">
                <a:solidFill>
                  <a:srgbClr val="405449"/>
                </a:solidFill>
                <a:latin typeface="Nobile"/>
              </a:rPr>
              <a:t>Richer C features</a:t>
            </a:r>
            <a:endParaRPr lang="en-US" dirty="0">
              <a:solidFill>
                <a:srgbClr val="405449"/>
              </a:solidFill>
              <a:latin typeface="Nobile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dirty="0">
                <a:solidFill>
                  <a:srgbClr val="405449"/>
                </a:solidFill>
                <a:latin typeface="Nobile"/>
              </a:rPr>
              <a:t>CFG-based optimization and better diagnostics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2FB08C2-7BCB-55DE-0D16-0F9B52740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8818" y="7762810"/>
            <a:ext cx="2381582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91859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Conclusion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3512463"/>
            <a:ext cx="6407944" cy="2225278"/>
          </a:xfrm>
          <a:prstGeom prst="roundRect">
            <a:avLst>
              <a:gd name="adj" fmla="val 9174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1020604" y="3739277"/>
            <a:ext cx="59543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This mini-C compiler shows solid compiler design principles, with a clean structure that makes each stage easy to understand and extend.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428548" y="3512463"/>
            <a:ext cx="6408063" cy="2225278"/>
          </a:xfrm>
          <a:prstGeom prst="roundRect">
            <a:avLst>
              <a:gd name="adj" fmla="val 9174"/>
            </a:avLst>
          </a:prstGeom>
          <a:solidFill>
            <a:srgbClr val="E8F3E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7655362" y="3739277"/>
            <a:ext cx="5954435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It was a great learning project to understand practical language translation and provided us a valuable foundation for future compiler development.</a:t>
            </a: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F3A120-B414-0EDF-9CFF-E0CAAB3AE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3233" y="7762810"/>
            <a:ext cx="2381582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B50E4-9F52-8E89-77DF-FF51A980A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63EEAC-ED60-B75D-9FA2-26C1DAEEAB5F}"/>
              </a:ext>
            </a:extLst>
          </p:cNvPr>
          <p:cNvSpPr/>
          <p:nvPr/>
        </p:nvSpPr>
        <p:spPr>
          <a:xfrm>
            <a:off x="5046940" y="3831312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450"/>
              </a:lnSpc>
            </a:pPr>
            <a:r>
              <a:rPr lang="en-US" sz="4000" b="1" dirty="0">
                <a:solidFill>
                  <a:srgbClr val="3B4540"/>
                </a:solidFill>
                <a:latin typeface="Fraunces Extra Bold"/>
              </a:rPr>
              <a:t>Thank You!</a:t>
            </a:r>
          </a:p>
          <a:p>
            <a:pPr marL="0" indent="0" algn="l">
              <a:lnSpc>
                <a:spcPts val="4450"/>
              </a:lnSpc>
              <a:buNone/>
            </a:pPr>
            <a:endParaRPr lang="en-US" sz="35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82295C-DF9F-58D0-FC3A-4B1E7B95F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3233" y="7762810"/>
            <a:ext cx="2381582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717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1024</Words>
  <Application>Microsoft Macintosh PowerPoint</Application>
  <PresentationFormat>Custom</PresentationFormat>
  <Paragraphs>159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Consolas</vt:lpstr>
      <vt:lpstr>Arial</vt:lpstr>
      <vt:lpstr>Fraunces Extra Bold</vt:lpstr>
      <vt:lpstr>Fraunces Light</vt:lpstr>
      <vt:lpstr>Nobile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Home</dc:creator>
  <cp:lastModifiedBy>Hamza Riaz</cp:lastModifiedBy>
  <cp:revision>5</cp:revision>
  <dcterms:created xsi:type="dcterms:W3CDTF">2026-05-04T19:16:44Z</dcterms:created>
  <dcterms:modified xsi:type="dcterms:W3CDTF">2026-05-05T18:16:30Z</dcterms:modified>
</cp:coreProperties>
</file>